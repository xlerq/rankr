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331366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 lang="pl-PL">
                <a:solidFill>
                  <a:srgbClr val="243B53"/>
                </a:solidFill>
                <a:latin typeface="FreeSans"/>
              </a:defRPr>
            </a:pPr>
            <a:r>
              <a:t>rankr — postęp prac.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80160"/>
            <a:ext cx="13313664" cy="16459"/>
          </a:xfrm>
          <a:prstGeom prst="rect">
            <a:avLst/>
          </a:prstGeom>
          <a:solidFill>
            <a:srgbClr val="CD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900416"/>
            <a:ext cx="640080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Marek Karbarz · postęp pracy inżynierskiej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7900416"/>
            <a:ext cx="274320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14.10.2026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47320" y="7900416"/>
            <a:ext cx="109728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1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1331366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15"/>
              </a:lnSpc>
              <a:spcBef>
                <a:spcPts val="0"/>
              </a:spcBef>
              <a:spcAft>
                <a:spcPts val="0"/>
              </a:spcAft>
              <a:defRPr sz="2600" b="1" lang="pl-PL">
                <a:solidFill>
                  <a:srgbClr val="18232D"/>
                </a:solidFill>
                <a:latin typeface="FreeSans"/>
              </a:defRPr>
            </a:pPr>
            <a:r>
              <a:t>Autor: Marek Karbarz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13313664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31"/>
              </a:lnSpc>
              <a:spcBef>
                <a:spcPts val="0"/>
              </a:spcBef>
              <a:spcAft>
                <a:spcPts val="0"/>
              </a:spcAft>
              <a:defRPr sz="2700" b="0" lang="pl-PL">
                <a:solidFill>
                  <a:srgbClr val="18232D"/>
                </a:solidFill>
                <a:latin typeface="FreeSans"/>
              </a:defRPr>
            </a:pPr>
            <a:r>
              <a:t>Ranking spółek GPW według względnego potencjału wzrostu.</a:t>
            </a:r>
            <a:br/>
            <a:r>
              <a:t>Najpierw WIG20; horyzont 3–12 miesięcy. Planowana aplikacja webowa w Rust.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10128"/>
            <a:ext cx="13313664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Cel: wyższy wynik oznacza większą szansę na lepszy zwrot niż inne spółki z tego samego</a:t>
            </a:r>
            <a:br/>
            <a:r>
              <a:t>koszyka, nie ocenę „jakości spółki” ani prognozę w procentach.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498848"/>
            <a:ext cx="4267200" cy="193852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727448"/>
            <a:ext cx="3828288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4"/>
              </a:lnSpc>
              <a:spcBef>
                <a:spcPts val="0"/>
              </a:spcBef>
              <a:spcAft>
                <a:spcPts val="0"/>
              </a:spcAft>
              <a:defRPr sz="2900" b="1" lang="pl-PL">
                <a:solidFill>
                  <a:srgbClr val="243B53"/>
                </a:solidFill>
                <a:latin typeface="FreeSans"/>
              </a:defRPr>
            </a:pPr>
            <a:r>
              <a:t>fundamental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5449824"/>
            <a:ext cx="3828288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Najważniejsza rodzina.</a:t>
            </a:r>
            <a:br/>
            <a:r>
              <a:t>Jeszcze bez punktów.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81600" y="4498848"/>
            <a:ext cx="4267200" cy="193852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1056" y="4727448"/>
            <a:ext cx="3828288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4"/>
              </a:lnSpc>
              <a:spcBef>
                <a:spcPts val="0"/>
              </a:spcBef>
              <a:spcAft>
                <a:spcPts val="0"/>
              </a:spcAft>
              <a:defRPr sz="2900" b="1" lang="pl-PL">
                <a:solidFill>
                  <a:srgbClr val="243B53"/>
                </a:solidFill>
                <a:latin typeface="FreeSans"/>
              </a:defRPr>
            </a:pPr>
            <a:r>
              <a:t>technical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1056" y="5449824"/>
            <a:ext cx="3828288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Scoring offline</a:t>
            </a:r>
            <a:br/>
            <a:r>
              <a:t>zaimplementowany.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04832" y="4498848"/>
            <a:ext cx="4267200" cy="193852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4288" y="4727448"/>
            <a:ext cx="3828288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4"/>
              </a:lnSpc>
              <a:spcBef>
                <a:spcPts val="0"/>
              </a:spcBef>
              <a:spcAft>
                <a:spcPts val="0"/>
              </a:spcAft>
              <a:defRPr sz="2900" b="1" lang="pl-PL">
                <a:solidFill>
                  <a:srgbClr val="243B53"/>
                </a:solidFill>
                <a:latin typeface="FreeSans"/>
              </a:defRPr>
            </a:pPr>
            <a:r>
              <a:t>sentiment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4288" y="5449824"/>
            <a:ext cx="3828288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Pole w schemacie.</a:t>
            </a:r>
            <a:br/>
            <a:r>
              <a:t>Brak źródła danych.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803136"/>
            <a:ext cx="13313664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Planowany wynik końcowy: suma ważona rodzin, bez skali 0–100.</a:t>
            </a:r>
            <a:br/>
            <a:r>
              <a:t>Wagi nie są jeszcze skalibrowane.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331366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 lang="pl-PL">
                <a:solidFill>
                  <a:srgbClr val="243B53"/>
                </a:solidFill>
                <a:latin typeface="FreeSans"/>
              </a:defRPr>
            </a:pPr>
            <a:r>
              <a:t>Co już działa — importer i obliczenia offline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80160"/>
            <a:ext cx="13313664" cy="16459"/>
          </a:xfrm>
          <a:prstGeom prst="rect">
            <a:avLst/>
          </a:prstGeom>
          <a:solidFill>
            <a:srgbClr val="CD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900416"/>
            <a:ext cx="640080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Marek Karbarz · postęp pracy inżynierskiej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7900416"/>
            <a:ext cx="274320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14.10.2026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47320" y="7900416"/>
            <a:ext cx="109728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2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13313664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15"/>
              </a:lnSpc>
              <a:spcBef>
                <a:spcPts val="0"/>
              </a:spcBef>
              <a:spcAft>
                <a:spcPts val="0"/>
              </a:spcAft>
              <a:defRPr sz="2600" b="0" lang="pl-PL">
                <a:solidFill>
                  <a:srgbClr val="18232D"/>
                </a:solidFill>
                <a:latin typeface="FreeSans"/>
              </a:defRPr>
            </a:pPr>
            <a:r>
              <a:t>rankr-import w Rust; frontend i backend aplikacji webowej są nadal planowane.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67712"/>
            <a:ext cx="13313664" cy="63093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368296"/>
            <a:ext cx="475488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1" lang="pl-PL">
                <a:solidFill>
                  <a:srgbClr val="18232D"/>
                </a:solidFill>
                <a:latin typeface="FreeSans"/>
              </a:defRPr>
            </a:pPr>
            <a: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3288" y="2368296"/>
            <a:ext cx="8028431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 lang="pl-PL">
                <a:solidFill>
                  <a:srgbClr val="18232D"/>
                </a:solidFill>
                <a:latin typeface="FreeSans"/>
              </a:defRPr>
            </a:pPr>
            <a:r>
              <a:t>Bieżące fundamenty GPW/Notoria.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008376"/>
            <a:ext cx="13313664" cy="63093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108960"/>
            <a:ext cx="475488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1" lang="pl-PL">
                <a:solidFill>
                  <a:srgbClr val="18232D"/>
                </a:solidFill>
                <a:latin typeface="FreeSans"/>
              </a:defRPr>
            </a:pPr>
            <a:r>
              <a:t>history / prices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3288" y="3108960"/>
            <a:ext cx="8028431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 lang="pl-PL">
                <a:solidFill>
                  <a:srgbClr val="18232D"/>
                </a:solidFill>
                <a:latin typeface="FreeSans"/>
              </a:defRPr>
            </a:pPr>
            <a:r>
              <a:t>Yahoo Finance: historia / ostatnia świeca dzienna.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749039"/>
            <a:ext cx="13313664" cy="63093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849624"/>
            <a:ext cx="475488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1" lang="pl-PL">
                <a:solidFill>
                  <a:srgbClr val="18232D"/>
                </a:solidFill>
                <a:latin typeface="FreeSans"/>
              </a:defRPr>
            </a:pPr>
            <a:r>
              <a:t>technical / technical-table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3288" y="3849624"/>
            <a:ext cx="8028431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 lang="pl-PL">
                <a:solidFill>
                  <a:srgbClr val="18232D"/>
                </a:solidFill>
                <a:latin typeface="FreeSans"/>
              </a:defRPr>
            </a:pPr>
            <a:r>
              <a:t>Punkty jednego instrumentu / ranking offline.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489704"/>
            <a:ext cx="13313664" cy="63093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590288"/>
            <a:ext cx="475488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1" lang="pl-PL">
                <a:solidFill>
                  <a:srgbClr val="18232D"/>
                </a:solidFill>
                <a:latin typeface="FreeSans"/>
              </a:defRPr>
            </a:pPr>
            <a:r>
              <a:t>fundamental-table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3288" y="4590288"/>
            <a:ext cx="8028431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 lang="pl-PL">
                <a:solidFill>
                  <a:srgbClr val="18232D"/>
                </a:solidFill>
                <a:latin typeface="FreeSans"/>
              </a:defRPr>
            </a:pPr>
            <a:r>
              <a:t>Surowe wskaźniki z raportu; bez punktów.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468112"/>
            <a:ext cx="13313664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31"/>
              </a:lnSpc>
              <a:spcBef>
                <a:spcPts val="0"/>
              </a:spcBef>
              <a:spcAft>
                <a:spcPts val="0"/>
              </a:spcAft>
              <a:defRPr sz="2700" b="1" lang="pl-PL">
                <a:solidFill>
                  <a:srgbClr val="243B53"/>
                </a:solidFill>
                <a:latin typeface="FreeSans"/>
              </a:defRPr>
            </a:pPr>
            <a:r>
              <a:t>Odpowiedź źródła → raw.json → parser → fundamentals.json / history.json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199632"/>
            <a:ext cx="6419088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15"/>
              </a:lnSpc>
              <a:spcBef>
                <a:spcPts val="0"/>
              </a:spcBef>
              <a:spcAft>
                <a:spcPts val="0"/>
              </a:spcAft>
              <a:defRPr sz="2600" b="1" lang="pl-PL">
                <a:solidFill>
                  <a:srgbClr val="243B53"/>
                </a:solidFill>
                <a:latin typeface="FreeSans"/>
              </a:defRPr>
            </a:pPr>
            <a:r>
              <a:t>Fundamenty: bieżące raporty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784848"/>
            <a:ext cx="641908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Kolejne obserwacje od startu zbierania.</a:t>
            </a:r>
            <a:br/>
            <a:r>
              <a:t>Brak importu archiwum sprawozdań.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383" y="6199632"/>
            <a:ext cx="6291072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15"/>
              </a:lnSpc>
              <a:spcBef>
                <a:spcPts val="0"/>
              </a:spcBef>
              <a:spcAft>
                <a:spcPts val="0"/>
              </a:spcAft>
              <a:defRPr sz="2600" b="1" lang="pl-PL">
                <a:solidFill>
                  <a:srgbClr val="243B53"/>
                </a:solidFill>
                <a:latin typeface="FreeSans"/>
              </a:defRPr>
            </a:pPr>
            <a:r>
              <a:t>Ceny: wieloletnia historia dzienna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6784848"/>
            <a:ext cx="629107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Yahoo Finance bez klucza API.</a:t>
            </a:r>
            <a:br/>
            <a:r>
              <a:t>Obliczenia z lokalnych plików JSON.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331366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 lang="pl-PL">
                <a:solidFill>
                  <a:srgbClr val="243B53"/>
                </a:solidFill>
                <a:latin typeface="FreeSans"/>
              </a:defRPr>
            </a:pPr>
            <a:r>
              <a:t>Pobieranie historii — rzeczywiste wykonanie CLI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80160"/>
            <a:ext cx="13313664" cy="16459"/>
          </a:xfrm>
          <a:prstGeom prst="rect">
            <a:avLst/>
          </a:prstGeom>
          <a:solidFill>
            <a:srgbClr val="CD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900416"/>
            <a:ext cx="640080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Marek Karbarz · postęp pracy inżynierskiej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7900416"/>
            <a:ext cx="274320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14.10.2026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47320" y="7900416"/>
            <a:ext cx="109728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3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63624"/>
            <a:ext cx="1331366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15"/>
              </a:lnSpc>
              <a:spcBef>
                <a:spcPts val="0"/>
              </a:spcBef>
              <a:spcAft>
                <a:spcPts val="0"/>
              </a:spcAft>
              <a:defRPr sz="2600" b="0" lang="pl-PL">
                <a:solidFill>
                  <a:srgbClr val="18232D"/>
                </a:solidFill>
                <a:latin typeface="FreeSans"/>
              </a:defRPr>
            </a:pPr>
            <a:r>
              <a:t>Wycinek logów history z 14.10.2026: pobrano 20/20 historii spółek WIG20.</a:t>
            </a:r>
          </a:p>
        </p:txBody>
      </p:sp>
      <p:pic>
        <p:nvPicPr>
          <p:cNvPr id="8" name="Oryginalny zrzut history: liczba świec, zakres dat, pominięcia i podsumowanie 20/20" descr="Oryginalny zrzut history: liczba świec, zakres dat, pominięcia i podsumowanie 20/20"/>
          <p:cNvPicPr>
            <a:picLocks noChangeAspect="1"/>
          </p:cNvPicPr>
          <p:nvPr/>
        </p:nvPicPr>
        <p:blipFill>
          <a:blip r:embed="rId2"/>
          <a:srcRect t="82769" r="29448"/>
          <a:stretch>
            <a:fillRect/>
          </a:stretch>
        </p:blipFill>
        <p:spPr>
          <a:xfrm>
            <a:off x="658368" y="2313432"/>
            <a:ext cx="13313664" cy="3313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5879592"/>
            <a:ext cx="13313664" cy="4663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1" lang="pl-PL">
                <a:solidFill>
                  <a:srgbClr val="18232D"/>
                </a:solidFill>
                <a:latin typeface="FreeSans"/>
              </a:defRPr>
            </a:pPr>
            <a:r>
              <a:t>Na logach: liczba świec, zakres dat, zapis do archiwum i raport pominięć.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537960"/>
            <a:ext cx="6446520" cy="1124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 lang="pl-PL">
                <a:solidFill>
                  <a:srgbClr val="18232D"/>
                </a:solidFill>
                <a:latin typeface="FreeSans"/>
              </a:defRPr>
            </a:pPr>
            <a:r>
              <a:t>Surowa odpowiedź jest zachowana.</a:t>
            </a:r>
            <a:br/>
            <a:r>
              <a:t>Wadliwe lub niepełne świece trafiają do</a:t>
            </a:r>
            <a:br/>
            <a:r>
              <a:t>skipped_candles.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71816" y="6537960"/>
            <a:ext cx="6281928" cy="1124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 lang="pl-PL">
                <a:solidFill>
                  <a:srgbClr val="18232D"/>
                </a:solidFill>
                <a:latin typeface="FreeSans"/>
              </a:defRPr>
            </a:pPr>
            <a:r>
              <a:t>Luki pozostają lukami.</a:t>
            </a:r>
            <a:br/>
            <a:r>
              <a:t>Importer nie dopisuje sztucznych sesji ani</a:t>
            </a:r>
            <a:br/>
            <a:r>
              <a:t>cen.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331366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 lang="pl-PL">
                <a:solidFill>
                  <a:srgbClr val="243B53"/>
                </a:solidFill>
                <a:latin typeface="FreeSans"/>
              </a:defRPr>
            </a:pPr>
            <a:r>
              <a:t>Technical v1 — sezonowość miesiąca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80160"/>
            <a:ext cx="13313664" cy="16459"/>
          </a:xfrm>
          <a:prstGeom prst="rect">
            <a:avLst/>
          </a:prstGeom>
          <a:solidFill>
            <a:srgbClr val="CD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900416"/>
            <a:ext cx="640080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Marek Karbarz · postęp pracy inżynierskiej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7900416"/>
            <a:ext cx="274320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14.10.2026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47320" y="7900416"/>
            <a:ext cx="109728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4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13313664" cy="5577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  <a:defRPr sz="3000" b="1" lang="pl-PL">
                <a:solidFill>
                  <a:srgbClr val="243B53"/>
                </a:solidFill>
                <a:latin typeface="FreeSans"/>
              </a:defRPr>
            </a:pPr>
            <a:r>
              <a:t>technical_score = punkty sezonowości + punkty trendu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49424"/>
            <a:ext cx="13313664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Każdy składnik: −1, 0 albo +1; pełny wynik: −2 do +2; bez wag 0,5 i momentum.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80944"/>
            <a:ext cx="7351775" cy="521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31"/>
              </a:lnSpc>
              <a:spcBef>
                <a:spcPts val="0"/>
              </a:spcBef>
              <a:spcAft>
                <a:spcPts val="0"/>
              </a:spcAft>
              <a:defRPr sz="2700" b="1" lang="pl-PL">
                <a:solidFill>
                  <a:srgbClr val="243B53"/>
                </a:solidFill>
                <a:latin typeface="FreeSans"/>
              </a:defRPr>
            </a:pPr>
            <a:r>
              <a:t>Które miesiące wchodzą do obliczeń?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85032"/>
            <a:ext cx="7351775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Miesiąc kalendarzowy daty rankingu.</a:t>
            </a:r>
            <a:br/>
            <a:r>
              <a:t>Tylko zakończone takie miesiące z lat ubiegłych.</a:t>
            </a:r>
            <a:br/>
            <a:r>
              <a:t>Bieżący miesiąc pozostaje poza średnią.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138928"/>
            <a:ext cx="7351775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Zwrot = ostatni close tego miesiąca /</a:t>
            </a:r>
            <a:br/>
            <a:r>
              <a:t>ostatni close poprzedniego miesiąca − 1.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245352"/>
            <a:ext cx="7351775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 lang="pl-PL">
                <a:solidFill>
                  <a:srgbClr val="18232D"/>
                </a:solidFill>
                <a:latin typeface="FreeSans"/>
              </a:defRPr>
            </a:pPr>
            <a:r>
              <a:t>R: średnia z całej dostępnej historii.</a:t>
            </a:r>
            <a:br/>
            <a:r>
              <a:t>Bez ceny poprzedniego miesiąca para jest pomijana.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980944"/>
            <a:ext cx="5486400" cy="521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15"/>
              </a:lnSpc>
              <a:spcBef>
                <a:spcPts val="0"/>
              </a:spcBef>
              <a:spcAft>
                <a:spcPts val="0"/>
              </a:spcAft>
              <a:defRPr sz="2600" b="1" lang="pl-PL">
                <a:solidFill>
                  <a:srgbClr val="243B53"/>
                </a:solidFill>
                <a:latin typeface="FreeSans"/>
              </a:defRPr>
            </a:pPr>
            <a:r>
              <a:t>Średni zwrot → punkty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712463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31"/>
              </a:lnSpc>
              <a:spcBef>
                <a:spcPts val="0"/>
              </a:spcBef>
              <a:spcAft>
                <a:spcPts val="0"/>
              </a:spcAft>
              <a:defRPr sz="2700" b="1" lang="pl-PL">
                <a:solidFill>
                  <a:srgbClr val="18232D"/>
                </a:solidFill>
                <a:latin typeface="FreeSans"/>
              </a:defRPr>
            </a:pPr>
            <a:r>
              <a:t>R &gt; 2% → +1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4352544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31"/>
              </a:lnSpc>
              <a:spcBef>
                <a:spcPts val="0"/>
              </a:spcBef>
              <a:spcAft>
                <a:spcPts val="0"/>
              </a:spcAft>
              <a:defRPr sz="2700" b="1" lang="pl-PL">
                <a:solidFill>
                  <a:srgbClr val="18232D"/>
                </a:solidFill>
                <a:latin typeface="FreeSans"/>
              </a:defRPr>
            </a:pPr>
            <a:r>
              <a:t>R &lt; −2% → −1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992624"/>
            <a:ext cx="54864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31"/>
              </a:lnSpc>
              <a:spcBef>
                <a:spcPts val="0"/>
              </a:spcBef>
              <a:spcAft>
                <a:spcPts val="0"/>
              </a:spcAft>
              <a:defRPr sz="2700" b="1" lang="pl-PL">
                <a:solidFill>
                  <a:srgbClr val="18232D"/>
                </a:solidFill>
                <a:latin typeface="FreeSans"/>
              </a:defRPr>
            </a:pPr>
            <a:r>
              <a:t>Pozostałe → 0</a:t>
            </a:r>
            <a:br/>
            <a:r>
              <a:t>(także przy dokładnie ±2%).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6053328"/>
            <a:ext cx="548640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 lang="pl-PL">
                <a:solidFill>
                  <a:srgbClr val="18232D"/>
                </a:solidFill>
                <a:latin typeface="FreeSans"/>
              </a:defRPr>
            </a:pPr>
            <a:r>
              <a:t>Wystarczy jeden historyczny miesiąc.</a:t>
            </a:r>
            <a:br/>
            <a:r>
              <a:t>Zero użytecznych miesięcy → null</a:t>
            </a:r>
            <a:br/>
            <a:r>
              <a:t>sezonowości i całego technical_score.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7351775"/>
            <a:ext cx="13313664" cy="5029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7415783"/>
            <a:ext cx="13021056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1" lang="pl-PL">
                <a:solidFill>
                  <a:srgbClr val="18232D"/>
                </a:solidFill>
                <a:latin typeface="FreeSans"/>
              </a:defRPr>
            </a:pPr>
            <a:r>
              <a:t>Dane: close, nie adjusted_close; wyłącznie świece z date &lt; as_of.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331366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 lang="pl-PL">
                <a:solidFill>
                  <a:srgbClr val="243B53"/>
                </a:solidFill>
                <a:latin typeface="FreeSans"/>
              </a:defRPr>
            </a:pPr>
            <a:r>
              <a:t>Trend SMA200 i zbiorczy ranking technical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80160"/>
            <a:ext cx="13313664" cy="16459"/>
          </a:xfrm>
          <a:prstGeom prst="rect">
            <a:avLst/>
          </a:prstGeom>
          <a:solidFill>
            <a:srgbClr val="CD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900416"/>
            <a:ext cx="640080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Marek Karbarz · postęp pracy inżynierskiej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7900416"/>
            <a:ext cx="274320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14.10.2026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47320" y="7900416"/>
            <a:ext cx="109728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5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13313664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31"/>
              </a:lnSpc>
              <a:spcBef>
                <a:spcPts val="0"/>
              </a:spcBef>
              <a:spcAft>
                <a:spcPts val="0"/>
              </a:spcAft>
              <a:defRPr sz="2700" b="0" lang="pl-PL">
                <a:solidFill>
                  <a:srgbClr val="18232D"/>
                </a:solidFill>
                <a:latin typeface="FreeSans"/>
              </a:defRPr>
            </a:pPr>
            <a:r>
              <a:t>SMA200: średnia ostatnich 200 dziennych close sprzed daty rankingu.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76272"/>
            <a:ext cx="1331366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d = |close − SMA200| / SMA200. d &lt; 3% → 0; przy ≥ 3%: powyżej → +1, poniżej → −1.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16352"/>
            <a:ext cx="13313664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 lang="pl-PL">
                <a:solidFill>
                  <a:srgbClr val="18232D"/>
                </a:solidFill>
                <a:latin typeface="FreeSans"/>
              </a:defRPr>
            </a:pPr>
            <a:r>
              <a:t>Mniej niż 200 sesji → trend 0. Poniżej: wycinek rzeczywistego JSON z technical-table.</a:t>
            </a:r>
          </a:p>
        </p:txBody>
      </p:sp>
      <p:pic>
        <p:nvPicPr>
          <p:cNvPr id="10" name="Oryginalny wycinek JSON technical-table z datą rankingu, składnikami, sumą i liczbą lat" descr="Oryginalny wycinek JSON technical-table z datą rankingu, składnikami, sumą i liczbą lat"/>
          <p:cNvPicPr>
            <a:picLocks noChangeAspect="1"/>
          </p:cNvPicPr>
          <p:nvPr/>
        </p:nvPicPr>
        <p:blipFill>
          <a:blip r:embed="rId2"/>
          <a:srcRect b="80595"/>
          <a:stretch>
            <a:fillRect/>
          </a:stretch>
        </p:blipFill>
        <p:spPr>
          <a:xfrm>
            <a:off x="658368" y="3474720"/>
            <a:ext cx="13313664" cy="35579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7269480"/>
            <a:ext cx="13313664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68"/>
              </a:lnSpc>
              <a:spcBef>
                <a:spcPts val="0"/>
              </a:spcBef>
              <a:spcAft>
                <a:spcPts val="0"/>
              </a:spcAft>
              <a:defRPr sz="2300" b="0" lang="pl-PL">
                <a:solidFill>
                  <a:srgbClr val="18232D"/>
                </a:solidFill>
                <a:latin typeface="FreeSans"/>
              </a:defRPr>
            </a:pPr>
            <a:r>
              <a:t>Najnowszy fetched_at na spółkę; sort malejąco po wyniku, null na końcu, remisy A–Z.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331366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 lang="pl-PL">
                <a:solidFill>
                  <a:srgbClr val="243B53"/>
                </a:solidFill>
                <a:latin typeface="FreeSans"/>
              </a:defRPr>
            </a:pPr>
            <a:r>
              <a:t>Fundamenty — pięć wskaźników z jednego raportu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80160"/>
            <a:ext cx="13313664" cy="16459"/>
          </a:xfrm>
          <a:prstGeom prst="rect">
            <a:avLst/>
          </a:prstGeom>
          <a:solidFill>
            <a:srgbClr val="CD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900416"/>
            <a:ext cx="640080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Marek Karbarz · postęp pracy inżynierskiej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7900416"/>
            <a:ext cx="274320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14.10.2026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47320" y="7900416"/>
            <a:ext cx="109728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6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13313664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15"/>
              </a:lnSpc>
              <a:spcBef>
                <a:spcPts val="0"/>
              </a:spcBef>
              <a:spcAft>
                <a:spcPts val="0"/>
              </a:spcAft>
              <a:defRPr sz="2600" b="0" lang="pl-PL">
                <a:solidFill>
                  <a:srgbClr val="18232D"/>
                </a:solidFill>
                <a:latin typeface="FreeSans"/>
              </a:defRPr>
            </a:pPr>
            <a:r>
              <a:t>fundamental-table oblicza relacje finansowe; jeszcze nie przypisuje punktów.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40280"/>
            <a:ext cx="327355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1" lang="pl-PL">
                <a:solidFill>
                  <a:srgbClr val="4C5B67"/>
                </a:solidFill>
                <a:latin typeface="FreeSans"/>
              </a:defRPr>
            </a:pPr>
            <a:r>
              <a:t>Wskaźnik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240280"/>
            <a:ext cx="9409176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1" lang="pl-PL">
                <a:solidFill>
                  <a:srgbClr val="4C5B67"/>
                </a:solidFill>
                <a:latin typeface="FreeSans"/>
              </a:defRPr>
            </a:pPr>
            <a:r>
              <a:t>Sposób obliczenia i znaczenie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770632"/>
            <a:ext cx="13313664" cy="65836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80360"/>
            <a:ext cx="3465576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1" lang="pl-PL">
                <a:solidFill>
                  <a:srgbClr val="18232D"/>
                </a:solidFill>
                <a:latin typeface="FreeSans"/>
              </a:defRPr>
            </a:pPr>
            <a:r>
              <a:t>net_margin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880360"/>
            <a:ext cx="9363456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 lang="pl-PL">
                <a:solidFill>
                  <a:srgbClr val="18232D"/>
                </a:solidFill>
                <a:latin typeface="FreeSans"/>
              </a:defRPr>
            </a:pPr>
            <a:r>
              <a:t>Zysk netto jednostki dominującej / przychody — marża netto.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538727"/>
            <a:ext cx="13313664" cy="65836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648456"/>
            <a:ext cx="3465576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1" lang="pl-PL">
                <a:solidFill>
                  <a:srgbClr val="18232D"/>
                </a:solidFill>
                <a:latin typeface="FreeSans"/>
              </a:defRPr>
            </a:pPr>
            <a:r>
              <a:t>operating_margin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648456"/>
            <a:ext cx="9363456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 lang="pl-PL">
                <a:solidFill>
                  <a:srgbClr val="18232D"/>
                </a:solidFill>
                <a:latin typeface="FreeSans"/>
              </a:defRPr>
            </a:pPr>
            <a:r>
              <a:t>Zysk operacyjny / przychody — marża działalności operacyjnej.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306824"/>
            <a:ext cx="13313664" cy="65836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416552"/>
            <a:ext cx="3465576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1" lang="pl-PL">
                <a:solidFill>
                  <a:srgbClr val="18232D"/>
                </a:solidFill>
                <a:latin typeface="FreeSans"/>
              </a:defRPr>
            </a:pPr>
            <a:r>
              <a:t>equity_ratio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416552"/>
            <a:ext cx="9363456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 lang="pl-PL">
                <a:solidFill>
                  <a:srgbClr val="18232D"/>
                </a:solidFill>
                <a:latin typeface="FreeSans"/>
              </a:defRPr>
            </a:pPr>
            <a:r>
              <a:t>Kapitał własny / aktywa — udział kapitału w aktywach.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074920"/>
            <a:ext cx="13313664" cy="65836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5184648"/>
            <a:ext cx="3465576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1" lang="pl-PL">
                <a:solidFill>
                  <a:srgbClr val="18232D"/>
                </a:solidFill>
                <a:latin typeface="FreeSans"/>
              </a:defRPr>
            </a:pPr>
            <a:r>
              <a:t>debt_to_equity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184648"/>
            <a:ext cx="9363456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 lang="pl-PL">
                <a:solidFill>
                  <a:srgbClr val="18232D"/>
                </a:solidFill>
                <a:latin typeface="FreeSans"/>
              </a:defRPr>
            </a:pPr>
            <a:r>
              <a:t>(Zobow. długoterminowe + krótkoterminowe) / kapitał własny.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843016"/>
            <a:ext cx="13313664" cy="65836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952744"/>
            <a:ext cx="3465576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1" lang="pl-PL">
                <a:solidFill>
                  <a:srgbClr val="18232D"/>
                </a:solidFill>
                <a:latin typeface="FreeSans"/>
              </a:defRPr>
            </a:pPr>
            <a:r>
              <a:t>ocf_to_net_income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952744"/>
            <a:ext cx="9363456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 lang="pl-PL">
                <a:solidFill>
                  <a:srgbClr val="18232D"/>
                </a:solidFill>
                <a:latin typeface="FreeSans"/>
              </a:defRPr>
            </a:pPr>
            <a:r>
              <a:t>Przepływy operacyjne / zysk netto — relacja gotówki do wyniku.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812280"/>
            <a:ext cx="13313664" cy="8321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 lang="pl-PL">
                <a:solidFill>
                  <a:srgbClr val="18232D"/>
                </a:solidFill>
                <a:latin typeface="FreeSans"/>
              </a:defRPr>
            </a:pPr>
            <a:r>
              <a:t>Kwoty × unit_multiplier przed obliczeniami; Decimal, bez annualizacji i zmiany walut.</a:t>
            </a:r>
            <a:br/>
            <a:r>
              <a:t>Brak składnika lub zerowy mianownik → null. W długu wymagane są oba zobowiązania.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331366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 lang="pl-PL">
                <a:solidFill>
                  <a:srgbClr val="243B53"/>
                </a:solidFill>
                <a:latin typeface="FreeSans"/>
              </a:defRPr>
            </a:pPr>
            <a:r>
              <a:t>fundamental-table — wykonanie i brakujące dane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80160"/>
            <a:ext cx="13313664" cy="16459"/>
          </a:xfrm>
          <a:prstGeom prst="rect">
            <a:avLst/>
          </a:prstGeom>
          <a:solidFill>
            <a:srgbClr val="CD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900416"/>
            <a:ext cx="640080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Marek Karbarz · postęp pracy inżynierskiej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7900416"/>
            <a:ext cx="274320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14.10.2026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47320" y="7900416"/>
            <a:ext cx="109728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7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1331366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Wycinek rzeczywistego JSON: okres raportu, waluta, konsolidacja, skala i wskaźniki.</a:t>
            </a:r>
          </a:p>
        </p:txBody>
      </p:sp>
      <p:pic>
        <p:nvPicPr>
          <p:cNvPr id="8" name="Oryginalny wycinek fundamental-table: zachowane metadane raportu i null dla debt_to_equity" descr="Oryginalny wycinek fundamental-table: zachowane metadane raportu i null dla debt_to_equity"/>
          <p:cNvPicPr>
            <a:picLocks noChangeAspect="1"/>
          </p:cNvPicPr>
          <p:nvPr/>
        </p:nvPicPr>
        <p:blipFill>
          <a:blip r:embed="rId2"/>
          <a:srcRect b="75244"/>
          <a:stretch>
            <a:fillRect/>
          </a:stretch>
        </p:blipFill>
        <p:spPr>
          <a:xfrm>
            <a:off x="658368" y="2194560"/>
            <a:ext cx="13313664" cy="44694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6894576"/>
            <a:ext cx="13313664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 lang="pl-PL">
                <a:solidFill>
                  <a:srgbClr val="18232D"/>
                </a:solidFill>
                <a:latin typeface="FreeSans"/>
              </a:defRPr>
            </a:pPr>
            <a:r>
              <a:t>Na tym wycinku debt_to_equity = null; spółka pozostaje w tabeli.</a:t>
            </a:r>
            <a:br/>
            <a:r>
              <a:t>Jeden najnowszy fetched_at na spółkę; sort A–Z, bez łączenia wartości z różnych raportów.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331366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 lang="pl-PL">
                <a:solidFill>
                  <a:srgbClr val="243B53"/>
                </a:solidFill>
                <a:latin typeface="FreeSans"/>
              </a:defRPr>
            </a:pPr>
            <a:r>
              <a:t>Problem przed punktacją fundamentów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80160"/>
            <a:ext cx="13313664" cy="16459"/>
          </a:xfrm>
          <a:prstGeom prst="rect">
            <a:avLst/>
          </a:prstGeom>
          <a:solidFill>
            <a:srgbClr val="CD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900416"/>
            <a:ext cx="640080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Marek Karbarz · postęp pracy inżynierskiej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7900416"/>
            <a:ext cx="274320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14.10.2026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47320" y="7900416"/>
            <a:ext cx="109728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8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3313664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15"/>
              </a:lnSpc>
              <a:spcBef>
                <a:spcPts val="0"/>
              </a:spcBef>
              <a:spcAft>
                <a:spcPts val="0"/>
              </a:spcAft>
              <a:defRPr sz="2600" b="0" lang="pl-PL">
                <a:solidFill>
                  <a:srgbClr val="18232D"/>
                </a:solidFill>
                <a:latin typeface="FreeSans"/>
              </a:defRPr>
            </a:pPr>
            <a:r>
              <a:t>Próg ±2% z sezonowości nie definiuje „dobrego” poziomu wskaźnika finansowego.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23160"/>
            <a:ext cx="644652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31"/>
              </a:lnSpc>
              <a:spcBef>
                <a:spcPts val="0"/>
              </a:spcBef>
              <a:spcAft>
                <a:spcPts val="0"/>
              </a:spcAft>
              <a:defRPr sz="2700" b="1" lang="pl-PL">
                <a:solidFill>
                  <a:srgbClr val="243B53"/>
                </a:solidFill>
                <a:latin typeface="FreeSans"/>
              </a:defRPr>
            </a:pPr>
            <a:r>
              <a:t>Różne wielkości i kierunki oceny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54680"/>
            <a:ext cx="644652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Sezonowość: zwrot wokół zera.</a:t>
            </a:r>
            <a:br/>
            <a:r>
              <a:t>Wskaźniki: marże, finansowanie, przepływy.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343400"/>
            <a:ext cx="6446520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Przykłady skali: marża 10%, kapitał/aktywa</a:t>
            </a:r>
            <a:br/>
            <a:r>
              <a:t>0,40.</a:t>
            </a:r>
            <a:br/>
            <a:r>
              <a:t>Pas ±2% dałby niemal każdej spółce</a:t>
            </a:r>
            <a:br/>
            <a:r>
              <a:t>niefinansowej +1, bez rozróżnienia.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016752"/>
            <a:ext cx="644652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1" lang="pl-PL">
                <a:solidFill>
                  <a:srgbClr val="18232D"/>
                </a:solidFill>
                <a:latin typeface="FreeSans"/>
              </a:defRPr>
            </a:pPr>
            <a:r>
              <a:t>Dług: wyższe debt_to_equity oznacza</a:t>
            </a:r>
            <a:br/>
            <a:r>
              <a:t>przeciwny kierunek punktacji.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423160"/>
            <a:ext cx="6272784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31"/>
              </a:lnSpc>
              <a:spcBef>
                <a:spcPts val="0"/>
              </a:spcBef>
              <a:spcAft>
                <a:spcPts val="0"/>
              </a:spcAft>
              <a:defRPr sz="2700" b="1" lang="pl-PL">
                <a:solidFill>
                  <a:srgbClr val="243B53"/>
                </a:solidFill>
                <a:latin typeface="FreeSans"/>
              </a:defRPr>
            </a:pPr>
            <a:r>
              <a:t>Ograniczenia obecnych danych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154680"/>
            <a:ext cx="6272784" cy="850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• Wycena: brak liczby akcji;</a:t>
            </a:r>
            <a:br/>
            <a:r>
              <a:t>nie ma P/E ani P/B.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343400"/>
            <a:ext cx="6272784" cy="1216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• Dynamika r/r: potrzebny poprzedni</a:t>
            </a:r>
            <a:br/>
            <a:r>
              <a:t>raport; obecnie wskaźniki powstają z</a:t>
            </a:r>
            <a:br/>
            <a:r>
              <a:t>jednego snapshotu.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5824728"/>
            <a:ext cx="6272784" cy="10332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0" lang="pl-PL">
                <a:solidFill>
                  <a:srgbClr val="18232D"/>
                </a:solidFill>
                <a:latin typeface="FreeSans"/>
              </a:defRPr>
            </a:pPr>
            <a:r>
              <a:t>• Bank bez przychodów ma marże null. Na</a:t>
            </a:r>
            <a:br/>
            <a:r>
              <a:t>poprzednim zrzucie przychód był dostępny.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7059168"/>
            <a:ext cx="13313664" cy="813816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7104888"/>
            <a:ext cx="1302105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68"/>
              </a:lnSpc>
              <a:spcBef>
                <a:spcPts val="0"/>
              </a:spcBef>
              <a:spcAft>
                <a:spcPts val="0"/>
              </a:spcAft>
              <a:defRPr sz="2300" b="0" lang="pl-PL">
                <a:solidFill>
                  <a:srgbClr val="18232D"/>
                </a:solidFill>
                <a:latin typeface="FreeSans"/>
              </a:defRPr>
            </a:pPr>
            <a:r>
              <a:t>Przykład skali punktów: 5 wskaźników → fundamental −5…+5; technical −2…+2.</a:t>
            </a:r>
            <a:br/>
            <a:r>
              <a:t>Przy wadze fundamental &gt; technical punkty muszą być porównywalne, aby suma była czytelna.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331366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40"/>
              </a:lnSpc>
              <a:spcBef>
                <a:spcPts val="0"/>
              </a:spcBef>
              <a:spcAft>
                <a:spcPts val="0"/>
              </a:spcAft>
              <a:defRPr sz="4000" b="1" lang="pl-PL">
                <a:solidFill>
                  <a:srgbClr val="243B53"/>
                </a:solidFill>
                <a:latin typeface="FreeSans"/>
              </a:defRPr>
            </a:pPr>
            <a:r>
              <a:t>Decyzja przed kolejnym kodem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80160"/>
            <a:ext cx="13313664" cy="16459"/>
          </a:xfrm>
          <a:prstGeom prst="rect">
            <a:avLst/>
          </a:prstGeom>
          <a:solidFill>
            <a:srgbClr val="CD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900416"/>
            <a:ext cx="640080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Marek Karbarz · postęp pracy inżynierskiej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7900416"/>
            <a:ext cx="274320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14.10.2026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47320" y="7900416"/>
            <a:ext cx="109728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 lang="pl-PL">
                <a:solidFill>
                  <a:srgbClr val="4C5B67"/>
                </a:solidFill>
                <a:latin typeface="FreeSans"/>
              </a:defRPr>
            </a:pPr>
            <a:r>
              <a:t>9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63624"/>
            <a:ext cx="13313664" cy="8321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31"/>
              </a:lnSpc>
              <a:spcBef>
                <a:spcPts val="0"/>
              </a:spcBef>
              <a:spcAft>
                <a:spcPts val="0"/>
              </a:spcAft>
              <a:defRPr sz="2700" b="0" lang="pl-PL">
                <a:solidFill>
                  <a:srgbClr val="18232D"/>
                </a:solidFill>
                <a:latin typeface="FreeSans"/>
              </a:defRPr>
            </a:pPr>
            <a:r>
              <a:t>Najbliższy krok: ustalić punkty fundamentalne i regułę braków danych.</a:t>
            </a:r>
            <a:br/>
            <a:r>
              <a:t>Frontend pozostaje późniejszym etapem.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60904"/>
            <a:ext cx="6400800" cy="521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47"/>
              </a:lnSpc>
              <a:spcBef>
                <a:spcPts val="0"/>
              </a:spcBef>
              <a:spcAft>
                <a:spcPts val="0"/>
              </a:spcAft>
              <a:defRPr sz="2800" b="1" lang="pl-PL">
                <a:solidFill>
                  <a:srgbClr val="243B53"/>
                </a:solidFill>
                <a:latin typeface="FreeSans"/>
              </a:defRPr>
            </a:pPr>
            <a:r>
              <a:t>A. Względnie w koszyku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660904"/>
            <a:ext cx="6272784" cy="521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47"/>
              </a:lnSpc>
              <a:spcBef>
                <a:spcPts val="0"/>
              </a:spcBef>
              <a:spcAft>
                <a:spcPts val="0"/>
              </a:spcAft>
              <a:defRPr sz="2800" b="1" lang="pl-PL">
                <a:solidFill>
                  <a:srgbClr val="243B53"/>
                </a:solidFill>
                <a:latin typeface="FreeSans"/>
              </a:defRPr>
            </a:pPr>
            <a:r>
              <a:t>B. Własne progi absolutne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392424"/>
            <a:ext cx="64008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• Górna tercja → +1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840480"/>
            <a:ext cx="64008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• Środkowa tercja →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288536"/>
            <a:ext cx="64008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• Dolna tercja → −1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736592"/>
            <a:ext cx="64008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• Dług: odwrotny kierunek.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184648"/>
            <a:ext cx="64008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• null: bez punktu.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419856"/>
            <a:ext cx="6272784" cy="859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31"/>
              </a:lnSpc>
              <a:spcBef>
                <a:spcPts val="0"/>
              </a:spcBef>
              <a:spcAft>
                <a:spcPts val="0"/>
              </a:spcAft>
              <a:defRPr sz="2700" b="0" lang="pl-PL">
                <a:solidFill>
                  <a:srgbClr val="18232D"/>
                </a:solidFill>
                <a:latin typeface="FreeSans"/>
              </a:defRPr>
            </a:pPr>
            <a:r>
              <a:t>Progi ustalane oddzielnie</a:t>
            </a:r>
            <a:br/>
            <a:r>
              <a:t>dla każdego wskaźnika.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572000"/>
            <a:ext cx="6272784" cy="795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Dwie ścieżki do wyboru;</a:t>
            </a:r>
            <a:br/>
            <a:r>
              <a:t>bez rozstrzygnięcia w tej prezentacji.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806440"/>
            <a:ext cx="13313664" cy="941832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79592"/>
            <a:ext cx="1302105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Osobno: brak jednego wskaźnika zeruje cały fundamental_score</a:t>
            </a:r>
            <a:br/>
            <a:r>
              <a:t>czy suma obejmuje tylko dostępne wskaźniki?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940296"/>
            <a:ext cx="13313664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0" lang="pl-PL">
                <a:solidFill>
                  <a:srgbClr val="18232D"/>
                </a:solidFill>
                <a:latin typeface="FreeSans"/>
              </a:defRPr>
            </a:pPr>
            <a:r>
              <a:t>Sentiment zostaje poza punktami, dopóki nie ma źródła.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7470648"/>
            <a:ext cx="13313664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1" lang="pl-PL">
                <a:solidFill>
                  <a:srgbClr val="18232D"/>
                </a:solidFill>
                <a:latin typeface="FreeSans"/>
              </a:defRPr>
            </a:pPr>
            <a:r>
              <a:t>Implementacja punktów fundamentów startuje dopiero po tej decyzji.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rankr — postęp prac</dc:title>
  <dc:subject>Postęp pracy inżynierskiej: ranking spółek GPW</dc:subject>
  <dc:creator>Marek Karbarz</dc:creator>
  <cp:keywords>rankr, praca inżynierska, GPW, WIG20, Rust</cp:keywords>
  <dc:description/>
  <cp:lastModifiedBy>Marek Karbarz</cp:lastModifiedBy>
  <cp:revision>1</cp:revision>
  <dcterms:created xsi:type="dcterms:W3CDTF">2026-10-14T06:18:34Z</dcterms:created>
  <dcterms:modified xsi:type="dcterms:W3CDTF">2026-10-14T06:18:34Z</dcterms:modified>
  <cp:category/>
</cp:coreProperties>
</file>