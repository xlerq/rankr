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3313664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40"/>
              </a:lnSpc>
              <a:spcBef>
                <a:spcPts val="0"/>
              </a:spcBef>
              <a:spcAft>
                <a:spcPts val="0"/>
              </a:spcAft>
              <a:defRPr sz="4000" b="1" lang="pl-PL">
                <a:solidFill>
                  <a:srgbClr val="243B53"/>
                </a:solidFill>
                <a:latin typeface="FreeSans"/>
              </a:defRPr>
            </a:pPr>
            <a:r>
              <a:t>rankr — postęp prac.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280160"/>
            <a:ext cx="13313664" cy="16459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900416"/>
            <a:ext cx="64008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Marek Karbarz · postęp pracy inżynierskiej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7900416"/>
            <a:ext cx="27432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14.10.2026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47320" y="7900416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1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1331366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600" b="1" lang="pl-PL">
                <a:solidFill>
                  <a:srgbClr val="18232D"/>
                </a:solidFill>
                <a:latin typeface="FreeSans"/>
              </a:defRPr>
            </a:pPr>
            <a:r>
              <a:t>Autor: Marek Karbarz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94560"/>
            <a:ext cx="1331366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0" lang="pl-PL">
                <a:solidFill>
                  <a:srgbClr val="18232D"/>
                </a:solidFill>
                <a:latin typeface="FreeSans"/>
              </a:defRPr>
            </a:pPr>
            <a:r>
              <a:t>Ranking spółek GPW według względnego potencjału wzrostu.</a:t>
            </a:r>
            <a:br/>
            <a:r>
              <a:t>Najpierw WIG20; horyzont 3–12 miesięcy. Planowana aplikacja webowa w Rust.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1331366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Cel: wyższy wynik oznacza większą szansę na lepszy zwrot niż inne spółki z tego samego</a:t>
            </a:r>
            <a:br/>
            <a:r>
              <a:t>koszyka, nie ocenę „jakości spółki” ani prognozę w procentach.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98848"/>
            <a:ext cx="4267200" cy="1938528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727448"/>
            <a:ext cx="382828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4"/>
              </a:lnSpc>
              <a:spcBef>
                <a:spcPts val="0"/>
              </a:spcBef>
              <a:spcAft>
                <a:spcPts val="0"/>
              </a:spcAft>
              <a:defRPr sz="2900" b="1" lang="pl-PL">
                <a:solidFill>
                  <a:srgbClr val="243B53"/>
                </a:solidFill>
                <a:latin typeface="FreeSans"/>
              </a:defRPr>
            </a:pPr>
            <a:r>
              <a:t>fundamental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5449824"/>
            <a:ext cx="3828288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Najważniejsza rodzina.</a:t>
            </a:r>
            <a:br/>
            <a:r>
              <a:t>Jeszcze bez punktów.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498848"/>
            <a:ext cx="4267200" cy="1938528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1056" y="4727448"/>
            <a:ext cx="382828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4"/>
              </a:lnSpc>
              <a:spcBef>
                <a:spcPts val="0"/>
              </a:spcBef>
              <a:spcAft>
                <a:spcPts val="0"/>
              </a:spcAft>
              <a:defRPr sz="2900" b="1" lang="pl-PL">
                <a:solidFill>
                  <a:srgbClr val="243B53"/>
                </a:solidFill>
                <a:latin typeface="FreeSans"/>
              </a:defRPr>
            </a:pPr>
            <a:r>
              <a:t>technical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1056" y="5449824"/>
            <a:ext cx="3828288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Scoring offline</a:t>
            </a:r>
            <a:br/>
            <a:r>
              <a:t>zaimplementowany.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832" y="4498848"/>
            <a:ext cx="4267200" cy="1938528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4288" y="4727448"/>
            <a:ext cx="382828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4"/>
              </a:lnSpc>
              <a:spcBef>
                <a:spcPts val="0"/>
              </a:spcBef>
              <a:spcAft>
                <a:spcPts val="0"/>
              </a:spcAft>
              <a:defRPr sz="2900" b="1" lang="pl-PL">
                <a:solidFill>
                  <a:srgbClr val="243B53"/>
                </a:solidFill>
                <a:latin typeface="FreeSans"/>
              </a:defRPr>
            </a:pPr>
            <a:r>
              <a:t>sentiment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4288" y="5449824"/>
            <a:ext cx="3828288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Pole w schemacie.</a:t>
            </a:r>
            <a:br/>
            <a:r>
              <a:t>Brak źródła danych.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803136"/>
            <a:ext cx="13313664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Planowany wynik końcowy: suma ważona rodzin, bez skali 0–100.</a:t>
            </a:r>
            <a:br/>
            <a:r>
              <a:t>Wagi nie są jeszcze skalibrowane.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3313664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40"/>
              </a:lnSpc>
              <a:spcBef>
                <a:spcPts val="0"/>
              </a:spcBef>
              <a:spcAft>
                <a:spcPts val="0"/>
              </a:spcAft>
              <a:defRPr sz="4000" b="1" lang="pl-PL">
                <a:solidFill>
                  <a:srgbClr val="243B53"/>
                </a:solidFill>
                <a:latin typeface="FreeSans"/>
              </a:defRPr>
            </a:pPr>
            <a:r>
              <a:t>Co już jest zrobione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280160"/>
            <a:ext cx="13313664" cy="16459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900416"/>
            <a:ext cx="64008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Marek Karbarz · postęp pracy inżynierskiej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7900416"/>
            <a:ext cx="27432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14.10.2026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47320" y="7900416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2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13313664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rankr-import (Rust) i scoring offline działają; frontend i backend są planowane.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31136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1" lang="pl-PL">
                <a:solidFill>
                  <a:srgbClr val="4C5B67"/>
                </a:solidFill>
                <a:latin typeface="FreeSans"/>
              </a:defRPr>
            </a:pPr>
            <a:r>
              <a:t>Komenda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2231136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1" lang="pl-PL">
                <a:solidFill>
                  <a:srgbClr val="4C5B67"/>
                </a:solidFill>
                <a:latin typeface="FreeSans"/>
              </a:defRPr>
            </a:pPr>
            <a:r>
              <a:t>Zrealizowany zakres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24912"/>
            <a:ext cx="13313664" cy="676656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43784"/>
            <a:ext cx="461772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 lang="pl-PL">
                <a:solidFill>
                  <a:srgbClr val="18232D"/>
                </a:solidFill>
                <a:latin typeface="FreeSans"/>
              </a:defRPr>
            </a:pPr>
            <a:r>
              <a:t>collect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843784"/>
            <a:ext cx="801014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Bieżące fundamenty GPW/Notoria.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502152"/>
            <a:ext cx="13313664" cy="10058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621024"/>
            <a:ext cx="4617720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 lang="pl-PL">
                <a:solidFill>
                  <a:srgbClr val="18232D"/>
                </a:solidFill>
                <a:latin typeface="FreeSans"/>
              </a:defRPr>
            </a:pPr>
            <a:r>
              <a:t>history / prices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3621024"/>
            <a:ext cx="8010144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Dzienne świece spółek z Yahoo Finance, bez klucza</a:t>
            </a:r>
            <a:br/>
            <a:r>
              <a:t>API.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608576"/>
            <a:ext cx="13313664" cy="676656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727448"/>
            <a:ext cx="461772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 lang="pl-PL">
                <a:solidFill>
                  <a:srgbClr val="18232D"/>
                </a:solidFill>
                <a:latin typeface="FreeSans"/>
              </a:defRPr>
            </a:pPr>
            <a:r>
              <a:t>technical / technical-table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4727448"/>
            <a:ext cx="801014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Scoring techniczny offline.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385816"/>
            <a:ext cx="13313664" cy="676656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04688"/>
            <a:ext cx="461772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1" lang="pl-PL">
                <a:solidFill>
                  <a:srgbClr val="18232D"/>
                </a:solidFill>
                <a:latin typeface="FreeSans"/>
              </a:defRPr>
            </a:pPr>
            <a:r>
              <a:t>fundamental-table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992" y="5504688"/>
            <a:ext cx="801014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Surowe wskaźniki z jednego raportu; bez punktów.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217920"/>
            <a:ext cx="6400800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600" b="1" lang="pl-PL">
                <a:solidFill>
                  <a:srgbClr val="243B53"/>
                </a:solidFill>
                <a:latin typeface="FreeSans"/>
              </a:defRPr>
            </a:pPr>
            <a:r>
              <a:t>Dane finansowe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702552"/>
            <a:ext cx="640080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Jeden bieżący snapshot na spółkę.</a:t>
            </a:r>
            <a:br/>
            <a:r>
              <a:t>Nie ma historii sprawozdań.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6217920"/>
            <a:ext cx="6309360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600" b="1" lang="pl-PL">
                <a:solidFill>
                  <a:srgbClr val="243B53"/>
                </a:solidFill>
                <a:latin typeface="FreeSans"/>
              </a:defRPr>
            </a:pPr>
            <a:r>
              <a:t>Ceny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6702552"/>
            <a:ext cx="630936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Wieloletnia historia dzienna.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3313664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40"/>
              </a:lnSpc>
              <a:spcBef>
                <a:spcPts val="0"/>
              </a:spcBef>
              <a:spcAft>
                <a:spcPts val="0"/>
              </a:spcAft>
              <a:defRPr sz="4000" b="1" lang="pl-PL">
                <a:solidFill>
                  <a:srgbClr val="243B53"/>
                </a:solidFill>
                <a:latin typeface="FreeSans"/>
              </a:defRPr>
            </a:pPr>
            <a:r>
              <a:t>Technical v1 — działający wzór punktów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280160"/>
            <a:ext cx="13313664" cy="16459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900416"/>
            <a:ext cx="64008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Marek Karbarz · postęp pracy inżynierskiej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7900416"/>
            <a:ext cx="27432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14.10.2026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47320" y="7900416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3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33136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3000" b="1" lang="pl-PL">
                <a:solidFill>
                  <a:srgbClr val="243B53"/>
                </a:solidFill>
                <a:latin typeface="FreeSans"/>
              </a:defRPr>
            </a:pPr>
            <a:r>
              <a:t>technical_score = punkty sezonowości + punkty trendu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21408"/>
            <a:ext cx="13313664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Każdy składnik: −1, 0 albo +1; pełny wynik: −2 do +2; bez wag 0,5.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33472"/>
            <a:ext cx="13313664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 lang="pl-PL">
                <a:solidFill>
                  <a:srgbClr val="18232D"/>
                </a:solidFill>
                <a:latin typeface="FreeSans"/>
              </a:defRPr>
            </a:pPr>
            <a:r>
              <a:t>Dane dzienne: close, nie adjusted_close; świece sprzed daty rankingu.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63824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 lang="pl-PL">
                <a:solidFill>
                  <a:srgbClr val="243B53"/>
                </a:solidFill>
                <a:latin typeface="FreeSans"/>
              </a:defRPr>
            </a:pPr>
            <a:r>
              <a:t>Sezonowość — miesiąc daty rankingu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85615"/>
            <a:ext cx="74980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Zakończone miesiące z lat ubiegłych;</a:t>
            </a:r>
            <a:br/>
            <a:r>
              <a:t>ten sam miesiąc kalendarzowy co data rankingu.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45736"/>
            <a:ext cx="7498079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Zwrot = ostatni close tego miesiąca /</a:t>
            </a:r>
            <a:br/>
            <a:r>
              <a:t>ostatni close poprzedniego miesiąca − 1.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87568"/>
            <a:ext cx="7498079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R = średnia zwrotów z całej dostępnej historii.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09360"/>
            <a:ext cx="7498079" cy="4846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 lang="pl-PL">
                <a:solidFill>
                  <a:srgbClr val="18232D"/>
                </a:solidFill>
                <a:latin typeface="FreeSans"/>
              </a:defRPr>
            </a:pPr>
            <a:r>
              <a:t>R &gt; 2% → +1 | R &lt; −2% → −1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894576"/>
            <a:ext cx="74980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Inaczej 0 (także dokładnie przy ±2%).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163824"/>
            <a:ext cx="5330952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 lang="pl-PL">
                <a:solidFill>
                  <a:srgbClr val="243B53"/>
                </a:solidFill>
                <a:latin typeface="FreeSans"/>
              </a:defRPr>
            </a:pPr>
            <a:r>
              <a:t>Trend — SMA200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785615"/>
            <a:ext cx="5330952" cy="813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Średnia z ostatnich 200 close.</a:t>
            </a:r>
            <a:br/>
            <a:r>
              <a:t>Odchylenie od SMA200 &lt; 3% → 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4754880"/>
            <a:ext cx="5330952" cy="1124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Na granicy 3% i poza pasem:</a:t>
            </a:r>
            <a:br/>
            <a:r>
              <a:t>powyżej SMA200 → +1;</a:t>
            </a:r>
            <a:br/>
            <a:r>
              <a:t>poniżej SMA200 → −1.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6062472"/>
            <a:ext cx="533095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Mniej niż 200 sesji → trend 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6611112"/>
            <a:ext cx="5330952" cy="758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technical-table: history.json</a:t>
            </a:r>
            <a:br/>
            <a:r>
              <a:t>z katalogu → ranking offline.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388352"/>
            <a:ext cx="13313664" cy="45720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7406640"/>
            <a:ext cx="13021056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1" lang="pl-PL">
                <a:solidFill>
                  <a:srgbClr val="18232D"/>
                </a:solidFill>
                <a:latin typeface="FreeSans"/>
              </a:defRPr>
            </a:pPr>
            <a:r>
              <a:t>0 zakończonych miesięcy → sezonowość i technical_score = null.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3313664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40"/>
              </a:lnSpc>
              <a:spcBef>
                <a:spcPts val="0"/>
              </a:spcBef>
              <a:spcAft>
                <a:spcPts val="0"/>
              </a:spcAft>
              <a:defRPr sz="4000" b="1" lang="pl-PL">
                <a:solidFill>
                  <a:srgbClr val="243B53"/>
                </a:solidFill>
                <a:latin typeface="FreeSans"/>
              </a:defRPr>
            </a:pPr>
            <a:r>
              <a:t>Problem, na którym się zatrzymujemy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280160"/>
            <a:ext cx="13313664" cy="16459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900416"/>
            <a:ext cx="64008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Marek Karbarz · postęp pracy inżynierskiej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7900416"/>
            <a:ext cx="27432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14.10.2026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47320" y="7900416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4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45336"/>
            <a:ext cx="13313664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0" lang="pl-PL">
                <a:solidFill>
                  <a:srgbClr val="18232D"/>
                </a:solidFill>
                <a:latin typeface="FreeSans"/>
              </a:defRPr>
            </a:pPr>
            <a:r>
              <a:t>fundamental-table: pięć wskaźników z jednego raportu, bez punktów.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39696"/>
            <a:ext cx="1331366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 lang="pl-PL">
                <a:solidFill>
                  <a:srgbClr val="18232D"/>
                </a:solidFill>
                <a:latin typeface="FreeSans"/>
              </a:defRPr>
            </a:pPr>
            <a:r>
              <a:t>net_margin · operating_margin · equity_ratio · debt_to_equity · ocf_to_net_income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24912"/>
            <a:ext cx="13313664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Brak danych lub dzielenie przez zero → null, nigdy zastępcze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474720"/>
            <a:ext cx="64465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 lang="pl-PL">
                <a:solidFill>
                  <a:srgbClr val="243B53"/>
                </a:solidFill>
                <a:latin typeface="FreeSans"/>
              </a:defRPr>
            </a:pPr>
            <a:r>
              <a:t>Dlaczego nie kopiujemy ±2%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78808"/>
            <a:ext cx="644652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Sezonowość mierzy zwrot wokół zera.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73168"/>
            <a:ext cx="6446520" cy="1124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Przykłady: marża 10%, kapitał/aktywa 0,40.</a:t>
            </a:r>
            <a:br/>
            <a:r>
              <a:t>To nie jest „prawie zero”; pas ±2%</a:t>
            </a:r>
            <a:br/>
            <a:r>
              <a:t>niemal każdej spółce niefinansowej dałby +1.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6446520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1" lang="pl-PL">
                <a:solidFill>
                  <a:srgbClr val="18232D"/>
                </a:solidFill>
                <a:latin typeface="FreeSans"/>
              </a:defRPr>
            </a:pPr>
            <a:r>
              <a:t>Dług działa odwrotnie:</a:t>
            </a:r>
            <a:br/>
            <a:r>
              <a:t>wyższe debt_to_equity → gorzej.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474720"/>
            <a:ext cx="627278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 lang="pl-PL">
                <a:solidFill>
                  <a:srgbClr val="243B53"/>
                </a:solidFill>
                <a:latin typeface="FreeSans"/>
              </a:defRPr>
            </a:pPr>
            <a:r>
              <a:t>Czego wskaźniki nie pokrywają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78808"/>
            <a:ext cx="6272784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• Wycena: brak liczby akcji;</a:t>
            </a:r>
            <a:br/>
            <a:r>
              <a:t>brak P/E i P/B.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5193792"/>
            <a:ext cx="6272784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• Dynamika r/r: brak poprzedniego raportu.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6035040"/>
            <a:ext cx="6272784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0" lang="pl-PL">
                <a:solidFill>
                  <a:srgbClr val="18232D"/>
                </a:solidFill>
                <a:latin typeface="FreeSans"/>
              </a:defRPr>
            </a:pPr>
            <a:r>
              <a:t>• Banki: częsty brak przychodu w Notoria;</a:t>
            </a:r>
            <a:br/>
            <a:r>
              <a:t>marże = null.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7086600"/>
            <a:ext cx="13313664" cy="786384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7114032"/>
            <a:ext cx="1302105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68"/>
              </a:lnSpc>
              <a:spcBef>
                <a:spcPts val="0"/>
              </a:spcBef>
              <a:spcAft>
                <a:spcPts val="0"/>
              </a:spcAft>
              <a:defRPr sz="2300" b="0" lang="pl-PL">
                <a:solidFill>
                  <a:srgbClr val="18232D"/>
                </a:solidFill>
                <a:latin typeface="FreeSans"/>
              </a:defRPr>
            </a:pPr>
            <a:r>
              <a:t>Przykład skali: 5 wskaźników → fundamental −5…+5; technical −2…+2.</a:t>
            </a:r>
            <a:br/>
            <a:r>
              <a:t>Waga fundamental &gt; technical: nieporównywalne punkty utrudniają interpretację sumy.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3313664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40"/>
              </a:lnSpc>
              <a:spcBef>
                <a:spcPts val="0"/>
              </a:spcBef>
              <a:spcAft>
                <a:spcPts val="0"/>
              </a:spcAft>
              <a:defRPr sz="4000" b="1" lang="pl-PL">
                <a:solidFill>
                  <a:srgbClr val="243B53"/>
                </a:solidFill>
                <a:latin typeface="FreeSans"/>
              </a:defRPr>
            </a:pPr>
            <a:r>
              <a:t>Decyzja przed kolejnym kodem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280160"/>
            <a:ext cx="13313664" cy="16459"/>
          </a:xfrm>
          <a:prstGeom prst="rect">
            <a:avLst/>
          </a:prstGeom>
          <a:solidFill>
            <a:srgbClr val="CD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900416"/>
            <a:ext cx="64008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Marek Karbarz · postęp pracy inżynierskiej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7900416"/>
            <a:ext cx="274320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14.10.2026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47320" y="7900416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500" b="0" lang="pl-PL">
                <a:solidFill>
                  <a:srgbClr val="4C5B67"/>
                </a:solidFill>
                <a:latin typeface="FreeSans"/>
              </a:defRPr>
            </a:pPr>
            <a:r>
              <a:t>5 /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63624"/>
            <a:ext cx="13313664" cy="832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0" lang="pl-PL">
                <a:solidFill>
                  <a:srgbClr val="18232D"/>
                </a:solidFill>
                <a:latin typeface="FreeSans"/>
              </a:defRPr>
            </a:pPr>
            <a:r>
              <a:t>Najbliższy krok: ustalić punkty fundamentalne.</a:t>
            </a:r>
            <a:br/>
            <a:r>
              <a:t>Frontend pozostaje późniejszym etapem.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51760"/>
            <a:ext cx="6400800" cy="521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 lang="pl-PL">
                <a:solidFill>
                  <a:srgbClr val="243B53"/>
                </a:solidFill>
                <a:latin typeface="FreeSans"/>
              </a:defRPr>
            </a:pPr>
            <a:r>
              <a:t>A. Względnie w koszyku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51760"/>
            <a:ext cx="6272784" cy="521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 lang="pl-PL">
                <a:solidFill>
                  <a:srgbClr val="243B53"/>
                </a:solidFill>
                <a:latin typeface="FreeSans"/>
              </a:defRPr>
            </a:pPr>
            <a:r>
              <a:t>B. Własne progi absolutne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392424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• Górna tercja →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840480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• Środkowa tercja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88536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• Dolna tercja → 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36592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• Dług: odwrotny kierunek.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84648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• null: bez punktu.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410712"/>
            <a:ext cx="6272784" cy="8595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0" lang="pl-PL">
                <a:solidFill>
                  <a:srgbClr val="18232D"/>
                </a:solidFill>
                <a:latin typeface="FreeSans"/>
              </a:defRPr>
            </a:pPr>
            <a:r>
              <a:t>Progi ustalane oddzielnie</a:t>
            </a:r>
            <a:br/>
            <a:r>
              <a:t>dla każdego wskaźnika.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581144"/>
            <a:ext cx="6272784" cy="795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Dwie ścieżki do wyboru;</a:t>
            </a:r>
            <a:br/>
            <a:r>
              <a:t>bez rozstrzygnięcia w tej prezentacji.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806440"/>
            <a:ext cx="13313664" cy="941832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5879592"/>
            <a:ext cx="1302105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Osobno: brak jednego wskaźnika zeruje cały fundamental_score</a:t>
            </a:r>
            <a:br/>
            <a:r>
              <a:t>czy suma obejmuje tylko dostępne wskaźniki?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940296"/>
            <a:ext cx="13313664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2500" b="0" lang="pl-PL">
                <a:solidFill>
                  <a:srgbClr val="18232D"/>
                </a:solidFill>
                <a:latin typeface="FreeSans"/>
              </a:defRPr>
            </a:pPr>
            <a:r>
              <a:t>Sentiment zostaje poza punktami, dopóki nie ma źródła.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7470648"/>
            <a:ext cx="13313664" cy="3931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spcAft>
                <a:spcPts val="0"/>
              </a:spcAft>
              <a:defRPr sz="2400" b="1" lang="pl-PL">
                <a:solidFill>
                  <a:srgbClr val="18232D"/>
                </a:solidFill>
                <a:latin typeface="FreeSans"/>
              </a:defRPr>
            </a:pPr>
            <a:r>
              <a:t>Implementacja punktów fundamentów startuje dopiero po tej decyzji.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rankr — postęp prac</dc:title>
  <dc:subject>Postęp pracy inżynierskiej: ranking spółek GPW</dc:subject>
  <dc:creator>Marek Karbarz</dc:creator>
  <cp:keywords>rankr, praca inżynierska, GPW, WIG20, Rust</cp:keywords>
  <dc:description/>
  <cp:lastModifiedBy>Marek Karbarz</cp:lastModifiedBy>
  <cp:revision>1</cp:revision>
  <dcterms:created xsi:type="dcterms:W3CDTF">2026-10-14T05:43:19Z</dcterms:created>
  <dcterms:modified xsi:type="dcterms:W3CDTF">2026-10-14T05:43:19Z</dcterms:modified>
  <cp:category/>
</cp:coreProperties>
</file>